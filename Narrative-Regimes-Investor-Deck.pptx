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0"/>
            <a:ext cx="94484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2A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-1737360"/>
            <a:ext cx="2560320" cy="2560320"/>
          </a:xfrm>
          <a:prstGeom prst="ellipse">
            <a:avLst/>
          </a:prstGeom>
          <a:noFill/>
          <a:ln w="6350">
            <a:solidFill>
              <a:srgbClr val="C9A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-2468880"/>
            <a:ext cx="4023360" cy="4023360"/>
          </a:xfrm>
          <a:prstGeom prst="ellipse">
            <a:avLst/>
          </a:prstGeom>
          <a:noFill/>
          <a:ln w="6350">
            <a:solidFill>
              <a:srgbClr val="C9A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0" y="-3200400"/>
            <a:ext cx="5486400" cy="5486400"/>
          </a:xfrm>
          <a:prstGeom prst="ellipse">
            <a:avLst/>
          </a:prstGeom>
          <a:noFill/>
          <a:ln w="6350">
            <a:solidFill>
              <a:srgbClr val="C9A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9A34E"/>
                </a:solidFill>
                <a:latin typeface="Microsoft JhengHei"/>
                <a:ea typeface="Microsoft JhengHei"/>
              </a:rPr>
              <a:t>RESEARCH BRIEFING FOR ALLOCATORS ·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3716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400" b="1" i="0">
                <a:solidFill>
                  <a:srgbClr val="FFFFFF"/>
                </a:solidFill>
                <a:latin typeface="Georgia"/>
                <a:ea typeface="Microsoft JhengHei"/>
              </a:rPr>
              <a:t>Narrative Regimes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68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>
                <a:solidFill>
                  <a:srgbClr val="E3E7F0"/>
                </a:solidFill>
                <a:latin typeface="Georgia"/>
                <a:ea typeface="Microsoft JhengHei"/>
              </a:rPr>
              <a:t>以 AI 敘事訊號強化</a:t>
            </a:r>
            <a:r>
              <a:rPr sz="2000" b="1" i="0">
                <a:solidFill>
                  <a:srgbClr val="C9A34E"/>
                </a:solidFill>
                <a:latin typeface="Georgia"/>
                <a:ea typeface="Microsoft JhengHei"/>
              </a:rPr>
              <a:t>長期投資人</a:t>
            </a:r>
            <a:r>
              <a:rPr sz="2000" b="0" i="0">
                <a:solidFill>
                  <a:srgbClr val="E3E7F0"/>
                </a:solidFill>
                <a:latin typeface="Georgia"/>
                <a:ea typeface="Microsoft JhengHei"/>
              </a:rPr>
              <a:t>的戰略資產配置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108960"/>
            <a:ext cx="658368" cy="3800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33756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 i="0">
                <a:solidFill>
                  <a:srgbClr val="CFD6E6"/>
                </a:solidFill>
                <a:latin typeface="Microsoft JhengHei"/>
                <a:ea typeface="Microsoft JhengHei"/>
              </a:rPr>
              <a:t>給主權基金、退休金、捐贈基金與長期家族辦公室的一份決策支援框架——
可審計、可復現、可量化採用門檻。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0352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C9A34E"/>
                </a:solidFill>
                <a:latin typeface="Georgia"/>
                <a:ea typeface="Microsoft JhengHei"/>
              </a:rPr>
              <a:t>Roger Chuang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8C0D4"/>
                </a:solidFill>
                <a:latin typeface="Microsoft JhengHei"/>
                <a:ea typeface="Microsoft JhengHei"/>
              </a:rPr>
              <a:t>Independent Researcher · Taipei, Taiwan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30352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C9A34E"/>
                </a:solidFill>
                <a:latin typeface="Georgia"/>
                <a:ea typeface="Microsoft JhengHei"/>
              </a:rPr>
              <a:t>v0.2.0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7607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B8C0D4"/>
                </a:solidFill>
                <a:latin typeface="Microsoft JhengHei"/>
                <a:ea typeface="Microsoft JhengHei"/>
              </a:rPr>
              <a:t>Preprint · 2026-04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64922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CCCCCC"/>
                </a:solidFill>
                <a:latin typeface="Microsoft JhengHei"/>
                <a:ea typeface="Microsoft JhengHei"/>
              </a:rPr>
              <a:t>機密 · 僅供受邀機構投資人參考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7A28"/>
                </a:solidFill>
                <a:latin typeface="Microsoft JhengHei"/>
                <a:ea typeface="Microsoft JhengHei"/>
              </a:rPr>
              <a:t>01 · 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 i="0">
                <a:solidFill>
                  <a:srgbClr val="1E2761"/>
                </a:solidFill>
                <a:latin typeface="Georgia"/>
                <a:ea typeface="Microsoft JhengHei"/>
              </a:rPr>
              <a:t>長期投資人最重要的決策,</a:t>
            </a:r>
          </a:p>
          <a:p>
            <a:pPr algn="l">
              <a:lnSpc>
                <a:spcPct val="122000"/>
              </a:lnSpc>
            </a:pPr>
            <a:r>
              <a:rPr sz="2800" b="1" i="0">
                <a:solidFill>
                  <a:srgbClr val="1E2761"/>
                </a:solidFill>
                <a:latin typeface="Georgia"/>
                <a:ea typeface="Microsoft JhengHei"/>
              </a:rPr>
              <a:t>目前還在用「跨景氣不變」的框架。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40280"/>
            <a:ext cx="658368" cy="3600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33172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50" b="0" i="0">
                <a:solidFill>
                  <a:srgbClr val="2B2F40"/>
                </a:solidFill>
                <a:latin typeface="Microsoft JhengHei"/>
                <a:ea typeface="Microsoft JhengHei"/>
              </a:rPr>
              <a:t>主權基金、退休金、大學捐贈基金、個人退休儲蓄——他們最重要的一個決策是「戰略資產配置 (SAA)」。目前主流工具 (60/40、1/N、風險平價、Markowitz 無條件均值變異數) 全部有同一個盲點:把「景氣擴張、景氣收縮、極端壓力」三種完全不同的市場,當成同一個市場來最佳化。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977639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16051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體制真的會切換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44567"/>
            <a:ext cx="3291840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84154"/>
                </a:solidFill>
                <a:latin typeface="Microsoft JhengHei"/>
                <a:ea typeface="Microsoft JhengHei"/>
              </a:rPr>
              <a:t>Hamilton (1989)、Ang &amp; Bekaert (2002) 實證:市場存在持續且離散的不同體制,每個體制的報酬、相關性、波動都不同。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3977639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416051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這部分的利益很大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544567"/>
            <a:ext cx="3291840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84154"/>
                </a:solidFill>
                <a:latin typeface="Microsoft JhengHei"/>
                <a:ea typeface="Microsoft JhengHei"/>
              </a:rPr>
              <a:t>Guidolin &amp; Timmermann (2007):能在市場完全反應「轉折」前先辨識體制,其效用利益比再精緻的無條件最佳化大一個數量級。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3977639"/>
            <a:ext cx="3657600" cy="21945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416051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但機構還沒工具可用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4544567"/>
            <a:ext cx="3291840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84154"/>
                </a:solidFill>
                <a:latin typeface="Microsoft JhengHei"/>
                <a:ea typeface="Microsoft JhengHei"/>
              </a:rPr>
              <a:t>體制訊號散在總體報告、央行語言、分析師筆記裡,投委會無法即時量化整合——只能事後歸因。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7A28"/>
                </a:solidFill>
                <a:latin typeface="Microsoft JhengHei"/>
                <a:ea typeface="Microsoft JhengHei"/>
              </a:rPr>
              <a:t>02 · 為什麼是現在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600" b="1" i="0">
                <a:solidFill>
                  <a:srgbClr val="1E2761"/>
                </a:solidFill>
                <a:latin typeface="Georgia"/>
                <a:ea typeface="Microsoft JhengHei"/>
              </a:rPr>
              <a:t>AI 帶來機會,</a:t>
            </a:r>
          </a:p>
          <a:p>
            <a:pPr algn="l">
              <a:lnSpc>
                <a:spcPct val="122000"/>
              </a:lnSpc>
            </a:pPr>
            <a:r>
              <a:rPr sz="2600" b="1" i="0">
                <a:solidFill>
                  <a:srgbClr val="1E2761"/>
                </a:solidFill>
                <a:latin typeface="Georgia"/>
                <a:ea typeface="Microsoft JhengHei"/>
              </a:rPr>
              <a:t>但多數「AI + 投資」研究有三個方法學陷阱。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40280"/>
            <a:ext cx="658368" cy="3600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606040"/>
            <a:ext cx="36576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788920"/>
            <a:ext cx="704088" cy="219456"/>
          </a:xfrm>
          <a:prstGeom prst="roundRect">
            <a:avLst>
              <a:gd name="adj" fmla="val 50000"/>
            </a:avLst>
          </a:prstGeom>
          <a:solidFill>
            <a:srgbClr val="F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800" b="1">
                <a:solidFill>
                  <a:srgbClr val="9A2D2D"/>
                </a:solidFill>
                <a:latin typeface="Microsoft JhengHei"/>
                <a:ea typeface="Microsoft JhengHei"/>
              </a:rPr>
              <a:t>陷阱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11810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看空未來 (Look-Ahead)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502152"/>
            <a:ext cx="3291840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84154"/>
                </a:solidFill>
                <a:latin typeface="Microsoft JhengHei"/>
                <a:ea typeface="Microsoft JhengHei"/>
              </a:rPr>
              <a:t>AI 訓練語料已「知道」未來,Glasserman &amp; Lin (2023) 證明這讓已發表績效嚴重高估;許多爆款研究都有此問題。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606040"/>
            <a:ext cx="36576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17720" y="2788920"/>
            <a:ext cx="704088" cy="219456"/>
          </a:xfrm>
          <a:prstGeom prst="roundRect">
            <a:avLst>
              <a:gd name="adj" fmla="val 50000"/>
            </a:avLst>
          </a:prstGeom>
          <a:solidFill>
            <a:srgbClr val="F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800" b="1">
                <a:solidFill>
                  <a:srgbClr val="9A2D2D"/>
                </a:solidFill>
                <a:latin typeface="Microsoft JhengHei"/>
                <a:ea typeface="Microsoft JhengHei"/>
              </a:rPr>
              <a:t>陷阱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11810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只關心短線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502152"/>
            <a:ext cx="3291840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84154"/>
                </a:solidFill>
                <a:latin typeface="Microsoft JhengHei"/>
                <a:ea typeface="Microsoft JhengHei"/>
              </a:rPr>
              <a:t>多數 AI 金融研究聚焦「下一週的股價方向」,沒接上長期投資人的 CRRA 效用與跨期避險的決策機器。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11312" y="2606040"/>
            <a:ext cx="365760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94192" y="2788920"/>
            <a:ext cx="704088" cy="219456"/>
          </a:xfrm>
          <a:prstGeom prst="roundRect">
            <a:avLst>
              <a:gd name="adj" fmla="val 50000"/>
            </a:avLst>
          </a:prstGeom>
          <a:solidFill>
            <a:srgbClr val="F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800" b="1">
                <a:solidFill>
                  <a:srgbClr val="9A2D2D"/>
                </a:solidFill>
                <a:latin typeface="Microsoft JhengHei"/>
                <a:ea typeface="Microsoft JhengHei"/>
              </a:rPr>
              <a:t>陷阱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11810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沒給採用門檻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502152"/>
            <a:ext cx="3291840" cy="1481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84154"/>
                </a:solidFill>
                <a:latin typeface="Microsoft JhengHei"/>
                <a:ea typeface="Microsoft JhengHei"/>
              </a:rPr>
              <a:t>要不要導入 AI 訊號?幾乎所有論文只給「相對 benchmark 的超額報酬」,從未回答「我的 AI 要多準,才值得用?」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486400"/>
            <a:ext cx="10972800" cy="841248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486400"/>
            <a:ext cx="38000" cy="841248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50408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 i="0">
                <a:solidFill>
                  <a:srgbClr val="1E2761"/>
                </a:solidFill>
                <a:latin typeface="Georgia"/>
                <a:ea typeface="Microsoft JhengHei"/>
              </a:rPr>
              <a:t>投委會面對的真正問題</a:t>
            </a:r>
            <a:r>
              <a:rPr sz="1100" b="0" i="0">
                <a:solidFill>
                  <a:srgbClr val="384154"/>
                </a:solidFill>
                <a:latin typeface="Microsoft JhengHei"/>
                <a:ea typeface="Microsoft JhengHei"/>
              </a:rPr>
              <a:t>是:「要不要把 AI 嵌入 SAA 流程、在什麼條件下值得、出問題能不能追溯。」這是決策支援問題,不是預測準確率問題。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7A28"/>
                </a:solidFill>
                <a:latin typeface="Microsoft JhengHei"/>
                <a:ea typeface="Microsoft JhengHei"/>
              </a:rPr>
              <a:t>03 · 我們的答案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600" b="1" i="0">
                <a:solidFill>
                  <a:srgbClr val="1E2761"/>
                </a:solidFill>
                <a:latin typeface="Georgia"/>
                <a:ea typeface="Microsoft JhengHei"/>
              </a:rPr>
              <a:t>Narrative Regimes:一個</a:t>
            </a:r>
            <a:r>
              <a:rPr sz="2600" b="1" i="0">
                <a:solidFill>
                  <a:srgbClr val="9A7A28"/>
                </a:solidFill>
                <a:latin typeface="Georgia"/>
                <a:ea typeface="Microsoft JhengHei"/>
              </a:rPr>
              <a:t>可審計、可量化、可復現</a:t>
            </a:r>
            <a:r>
              <a:rPr sz="2600" b="1" i="0">
                <a:solidFill>
                  <a:srgbClr val="1E2761"/>
                </a:solidFill>
                <a:latin typeface="Georgia"/>
                <a:ea typeface="Microsoft JhengHei"/>
              </a:rPr>
              <a:t>的決策支援框架。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40280"/>
            <a:ext cx="658368" cy="3600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331720"/>
            <a:ext cx="62179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00" b="0" i="0">
                <a:solidFill>
                  <a:srgbClr val="2B2F40"/>
                </a:solidFill>
                <a:latin typeface="Microsoft JhengHei"/>
                <a:ea typeface="Microsoft JhengHei"/>
              </a:rPr>
              <a:t>我們把 AI 從新聞抽出的「敘事訊號」,透過貝式濾波器與「報酬資料」融合,每月更新「現在最可能處於哪個市場體制」的機率分布;再針對每個體制各自算出最佳配置,依機率混合——而不是把體制平均掉。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49039"/>
            <a:ext cx="6217920" cy="74980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886199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A7A28"/>
                </a:solidFill>
                <a:latin typeface="Georgia"/>
                <a:ea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84047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  <a:ea typeface="Microsoft JhengHei"/>
              </a:rPr>
              <a:t>線上貝式體制濾波器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416051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A5060"/>
                </a:solidFill>
                <a:latin typeface="Microsoft JhengHei"/>
                <a:ea typeface="Microsoft JhengHei"/>
              </a:rPr>
              <a:t>每月以報酬 + AI 敘事訊號,嚴格遵守資訊時序 (無前視)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608575"/>
            <a:ext cx="6217920" cy="74980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745735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A7A28"/>
                </a:solidFill>
                <a:latin typeface="Georgia"/>
                <a:ea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700015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  <a:ea typeface="Microsoft JhengHei"/>
              </a:rPr>
              <a:t>體制條件策略混合配置器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20055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A5060"/>
                </a:solidFill>
                <a:latin typeface="Microsoft JhengHei"/>
                <a:ea typeface="Microsoft JhengHei"/>
              </a:rPr>
              <a:t>保留體制異質性,非把三種體制「平均成一個」再最佳化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5468111"/>
            <a:ext cx="6217920" cy="749808"/>
          </a:xfrm>
          <a:prstGeom prst="roundRect">
            <a:avLst>
              <a:gd name="adj" fmla="val 15000"/>
            </a:avLst>
          </a:prstGeom>
          <a:solidFill>
            <a:srgbClr val="F5F7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605271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9A7A28"/>
                </a:solidFill>
                <a:latin typeface="Georgia"/>
                <a:ea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559551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  <a:ea typeface="Microsoft JhengHei"/>
              </a:rPr>
              <a:t>可控訊噪比 Monte-Carlo 評估台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879591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4A5060"/>
                </a:solidFill>
                <a:latin typeface="Microsoft JhengHei"/>
                <a:ea typeface="Microsoft JhengHei"/>
              </a:rPr>
              <a:t>可量化回答「我的 AI 要多準才值得用」的設計變數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331720"/>
            <a:ext cx="1600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2404872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Georgia"/>
                <a:ea typeface="Microsoft JhengHei"/>
              </a:rPr>
              <a:t>報酬資料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624328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Microsoft JhengHei"/>
                <a:ea typeface="Microsoft JhengHei"/>
              </a:rPr>
              <a:t>r_t · 多資產月報酬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3063240"/>
            <a:ext cx="1600200" cy="5486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0" y="3136392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Georgia"/>
                <a:ea typeface="Microsoft JhengHei"/>
              </a:rPr>
              <a:t>AI 敘事訊號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355848"/>
            <a:ext cx="1600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 i="0">
                <a:solidFill>
                  <a:srgbClr val="6B7280"/>
                </a:solidFill>
                <a:latin typeface="Microsoft JhengHei"/>
                <a:ea typeface="Microsoft JhengHei"/>
              </a:rPr>
              <a:t>s_t · 新聞體制分類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52560" y="2606040"/>
            <a:ext cx="1280160" cy="73152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2734056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Georgia"/>
                <a:ea typeface="Microsoft JhengHei"/>
              </a:rPr>
              <a:t>貝式濾波器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01752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CADCFC"/>
                </a:solidFill>
                <a:latin typeface="Georgia"/>
                <a:ea typeface="Microsoft JhengHei"/>
              </a:rPr>
              <a:t>p(z_t | F_t)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69880" y="2331720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69880" y="238658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E2761"/>
                </a:solidFill>
                <a:latin typeface="Georgia"/>
                <a:ea typeface="Microsoft JhengHei"/>
              </a:rPr>
              <a:t>擴張 p1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69880" y="2788920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9880" y="284378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E2761"/>
                </a:solidFill>
                <a:latin typeface="Georgia"/>
                <a:ea typeface="Microsoft JhengHei"/>
              </a:rPr>
              <a:t>收縮 p2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69880" y="3246120"/>
            <a:ext cx="1417320" cy="384048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9880" y="3300984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E2761"/>
                </a:solidFill>
                <a:latin typeface="Georgia"/>
                <a:ea typeface="Microsoft JhengHei"/>
              </a:rPr>
              <a:t>壓力 p3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4251960"/>
            <a:ext cx="4572000" cy="685800"/>
          </a:xfrm>
          <a:prstGeom prst="roundRect">
            <a:avLst>
              <a:gd name="adj" fmla="val 15000"/>
            </a:avLst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0" y="434340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Georgia"/>
                <a:ea typeface="Microsoft JhengHei"/>
              </a:rPr>
              <a:t>體制條件策略混合配置器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463600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i="0">
                <a:solidFill>
                  <a:srgbClr val="1E2761"/>
                </a:solidFill>
                <a:latin typeface="Georgia"/>
                <a:ea typeface="Microsoft JhengHei"/>
              </a:rPr>
              <a:t>w_t = Σ p_k · w_k*(γ) · 再加權重慣性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5257800"/>
            <a:ext cx="4572000" cy="8229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53492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Georgia"/>
                <a:ea typeface="Microsoft JhengHei"/>
              </a:rPr>
              <a:t>資產權重 w_t · 可審計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56692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0">
                <a:solidFill>
                  <a:srgbClr val="6B7280"/>
                </a:solidFill>
                <a:latin typeface="Microsoft JhengHei"/>
                <a:ea typeface="Microsoft JhengHei"/>
              </a:rPr>
              <a:t>每一次配置變動都可追溯到「哪個體制、多少機率、哪條新聞」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7A28"/>
                </a:solidFill>
                <a:latin typeface="Microsoft JhengHei"/>
                <a:ea typeface="Microsoft JhengHei"/>
              </a:rPr>
              <a:t>04 · 運作原理 · 白話版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600" b="1" i="0">
                <a:solidFill>
                  <a:srgbClr val="1E2761"/>
                </a:solidFill>
                <a:latin typeface="Georgia"/>
                <a:ea typeface="Microsoft JhengHei"/>
              </a:rPr>
              <a:t>每個月,四個步驟把「報酬 + 新聞」變成「可下單的配置」。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40280"/>
            <a:ext cx="658368" cy="3600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65176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28803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90779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  <a:ea typeface="Microsoft Jheng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3832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讀市場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379476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4A5060"/>
                </a:solidFill>
                <a:latin typeface="Microsoft JhengHei"/>
                <a:ea typeface="Microsoft JhengHei"/>
              </a:rPr>
              <a:t>收這個月的多資產月報酬;以歷史資料估算:在「擴張 / 收縮 / 壓力」各體制下,每個資產的平均報酬與共變異數長什麼樣。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265176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30168" y="28803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0168" y="290779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  <a:ea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33832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讀新聞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79476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4A5060"/>
                </a:solidFill>
                <a:latin typeface="Microsoft JhengHei"/>
                <a:ea typeface="Microsoft JhengHei"/>
              </a:rPr>
              <a:t>以 AI 把本月新聞評分:每個體制各得多少分。出題時 AI 從未看到未來價格,嚴格遵守資訊時序。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265176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73368" y="28803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90779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  <a:ea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33832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更新機率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79476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4A5060"/>
                </a:solidFill>
                <a:latin typeface="Microsoft JhengHei"/>
                <a:ea typeface="Microsoft JhengHei"/>
              </a:rPr>
              <a:t>以貝式公式合併「報酬證據」與「新聞證據」,輸出此刻各體制的後驗機率 (ex. 擴張 52%、收縮 35%、壓力 13%)。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265176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16568" y="288036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6568" y="2907792"/>
            <a:ext cx="365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Georgia"/>
                <a:ea typeface="Microsoft Jheng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6568" y="338328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混合配置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3794760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4A5060"/>
                </a:solidFill>
                <a:latin typeface="Microsoft JhengHei"/>
                <a:ea typeface="Microsoft JhengHei"/>
              </a:rPr>
              <a:t>先算出每個體制下的最佳配置;依上方機率混合;再加 λ=0.7 的權重慣性避免過度換手。每筆調整可留證。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257800"/>
            <a:ext cx="10972800" cy="1051560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5257800"/>
            <a:ext cx="38000" cy="105156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34924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1" i="0">
                <a:solidFill>
                  <a:srgbClr val="1E2761"/>
                </a:solidFill>
                <a:latin typeface="Georgia"/>
                <a:ea typeface="Microsoft JhengHei"/>
              </a:rPr>
              <a:t>為什麼能避免前視偏差?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84154"/>
                </a:solidFill>
                <a:latin typeface="Microsoft JhengHei"/>
                <a:ea typeface="Microsoft JhengHei"/>
              </a:rPr>
              <a:t>所有體制條件估計 (均值 / 共變異數 / 轉移矩陣) 都以當月之前的資訊透過 Welford 線上遞迴更新;Monte-Carlo 評估台的訊號本身也是模擬產生,AI 訓練語料不會污染結果——這正是其他 AI + 金融研究常見的破口。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7A28"/>
                </a:solidFill>
                <a:latin typeface="Microsoft JhengHei"/>
                <a:ea typeface="Microsoft JhengHei"/>
              </a:rPr>
              <a:t>05 · 核心成果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400" b="1" i="0">
                <a:solidFill>
                  <a:srgbClr val="1E2761"/>
                </a:solidFill>
                <a:latin typeface="Georgia"/>
                <a:ea typeface="Microsoft JhengHei"/>
              </a:rPr>
              <a:t>7 資產 · 30 年 · 30 條蒙地卡羅路徑:</a:t>
            </a:r>
          </a:p>
          <a:p>
            <a:pPr algn="l">
              <a:lnSpc>
                <a:spcPct val="122000"/>
              </a:lnSpc>
            </a:pPr>
            <a:r>
              <a:rPr sz="2400" b="1" i="0">
                <a:solidFill>
                  <a:srgbClr val="1E2761"/>
                </a:solidFill>
                <a:latin typeface="Georgia"/>
                <a:ea typeface="Microsoft JhengHei"/>
              </a:rPr>
              <a:t>最大回撤腰斬,Sharpe 勝過所有標準基準。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40280"/>
            <a:ext cx="658368" cy="3600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651760"/>
            <a:ext cx="5852160" cy="3840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58368" y="3035808"/>
            <a:ext cx="585216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95528" y="274320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Microsoft JhengHei"/>
                <a:ea typeface="Microsoft JhengHei"/>
              </a:rPr>
              <a:t>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2743200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Georgia"/>
                <a:ea typeface="Microsoft JhengHei"/>
              </a:rPr>
              <a:t>Sharpe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74320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Georgia"/>
                <a:ea typeface="Microsoft JhengHei"/>
              </a:rPr>
              <a:t>最大回撤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50408" y="274320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1" i="0">
                <a:solidFill>
                  <a:srgbClr val="FFFFFF"/>
                </a:solidFill>
                <a:latin typeface="Georgia"/>
                <a:ea typeface="Microsoft JhengHei"/>
              </a:rPr>
              <a:t>月換手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035808"/>
            <a:ext cx="58521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658368" y="3419856"/>
            <a:ext cx="585216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5528" y="312724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 (精煉)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27248" y="3035808"/>
            <a:ext cx="1005840" cy="384048"/>
          </a:xfrm>
          <a:prstGeom prst="rect">
            <a:avLst/>
          </a:prstGeom>
          <a:solidFill>
            <a:srgbClr val="FB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58368" y="3419856"/>
            <a:ext cx="585216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64408" y="3127248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 i="0">
                <a:solidFill>
                  <a:srgbClr val="9A7A28"/>
                </a:solidFill>
                <a:latin typeface="Georgia"/>
                <a:ea typeface="Microsoft JhengHei"/>
              </a:rPr>
              <a:t>0.32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33088" y="3035808"/>
            <a:ext cx="1280160" cy="384048"/>
          </a:xfrm>
          <a:prstGeom prst="rect">
            <a:avLst/>
          </a:prstGeom>
          <a:solidFill>
            <a:srgbClr val="FB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58368" y="3419856"/>
            <a:ext cx="585216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70248" y="3127248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 i="0">
                <a:solidFill>
                  <a:srgbClr val="9A7A28"/>
                </a:solidFill>
                <a:latin typeface="Georgia"/>
                <a:ea typeface="Microsoft JhengHei"/>
              </a:rPr>
              <a:t>−18.7%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13248" y="3035808"/>
            <a:ext cx="1097280" cy="384048"/>
          </a:xfrm>
          <a:prstGeom prst="rect">
            <a:avLst/>
          </a:prstGeom>
          <a:solidFill>
            <a:srgbClr val="FB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Connector 21"/>
          <p:cNvCxnSpPr/>
          <p:nvPr/>
        </p:nvCxnSpPr>
        <p:spPr>
          <a:xfrm>
            <a:off x="658368" y="3419856"/>
            <a:ext cx="585216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50408" y="312724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1" i="0">
                <a:solidFill>
                  <a:srgbClr val="9A7A28"/>
                </a:solidFill>
                <a:latin typeface="Georgia"/>
                <a:ea typeface="Microsoft JhengHei"/>
              </a:rPr>
              <a:t>3.7%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419856"/>
            <a:ext cx="5852160" cy="384048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58368" y="3803904"/>
            <a:ext cx="585216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95528" y="3511296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 (基線)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64408" y="3511296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0.30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0248" y="351129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−22.7%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0408" y="3511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7.5%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803904"/>
            <a:ext cx="58521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658368" y="4187952"/>
            <a:ext cx="585216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95528" y="3895344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E2761"/>
                </a:solidFill>
                <a:latin typeface="Microsoft JhengHei"/>
                <a:ea typeface="Microsoft JhengHei"/>
              </a:rPr>
              <a:t>Risk Parity (風險平價)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64408" y="3895344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0.28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70248" y="3895344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−26.1%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0408" y="3895344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3.3%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187952"/>
            <a:ext cx="5852160" cy="384048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658368" y="4572000"/>
            <a:ext cx="585216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5528" y="427939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E2761"/>
                </a:solidFill>
                <a:latin typeface="Microsoft JhengHei"/>
                <a:ea typeface="Microsoft JhengHei"/>
              </a:rPr>
              <a:t>Rolling Mean-Variance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64408" y="4279392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0.25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70248" y="427939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−30.8%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50408" y="427939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572000"/>
            <a:ext cx="585216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>
            <a:off x="658368" y="4956048"/>
            <a:ext cx="585216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95528" y="4663440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E2761"/>
                </a:solidFill>
                <a:latin typeface="Microsoft JhengHei"/>
                <a:ea typeface="Microsoft JhengHei"/>
              </a:rPr>
              <a:t>60/40 股債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64408" y="4663440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0.23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70248" y="466344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−38.7%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50408" y="466344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2.7%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" y="4956048"/>
            <a:ext cx="5852160" cy="384048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658368" y="5340096"/>
            <a:ext cx="5852160" cy="0"/>
          </a:xfrm>
          <a:prstGeom prst="line">
            <a:avLst/>
          </a:prstGeom>
          <a:ln w="63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795528" y="5047488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 i="0">
                <a:solidFill>
                  <a:srgbClr val="1E2761"/>
                </a:solidFill>
                <a:latin typeface="Microsoft JhengHei"/>
                <a:ea typeface="Microsoft JhengHei"/>
              </a:rPr>
              <a:t>1/N 等權重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64408" y="5047488"/>
            <a:ext cx="731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0.21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70248" y="5047488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−41.9%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0408" y="504748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Georgia"/>
                <a:ea typeface="Microsoft JhengHe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" y="5431536"/>
            <a:ext cx="5852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6B7280"/>
                </a:solidFill>
                <a:latin typeface="Microsoft JhengHei"/>
                <a:ea typeface="Microsoft JhengHei"/>
              </a:rPr>
              <a:t>β=1 · τ=10 bps · γ=5 · 30 條獨立 MC 路徑;來源 Preprint Table 1.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26517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最大回撤 (%):越接近 0 越好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67144" y="4321410"/>
            <a:ext cx="682752" cy="936389"/>
          </a:xfrm>
          <a:prstGeom prst="roundRect">
            <a:avLst>
              <a:gd name="adj" fmla="val 5000"/>
            </a:avLst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29984" y="4083666"/>
            <a:ext cx="957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E2761"/>
                </a:solidFill>
                <a:latin typeface="Georgia"/>
                <a:ea typeface="Microsoft JhengHei"/>
              </a:rPr>
              <a:t>−18.7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9984" y="5330952"/>
            <a:ext cx="957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B7280"/>
                </a:solidFill>
                <a:latin typeface="Microsoft JhengHei"/>
                <a:ea typeface="Microsoft JhengHei"/>
              </a:rPr>
              <a:t>NR
(精煉)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59624" y="4121113"/>
            <a:ext cx="682752" cy="1136686"/>
          </a:xfrm>
          <a:prstGeom prst="roundRect">
            <a:avLst>
              <a:gd name="adj" fmla="val 5000"/>
            </a:avLst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522464" y="3883369"/>
            <a:ext cx="957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E2761"/>
                </a:solidFill>
                <a:latin typeface="Georgia"/>
                <a:ea typeface="Microsoft JhengHei"/>
              </a:rPr>
              <a:t>−22.7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22464" y="5330952"/>
            <a:ext cx="957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B7280"/>
                </a:solidFill>
                <a:latin typeface="Microsoft JhengHei"/>
                <a:ea typeface="Microsoft JhengHei"/>
              </a:rPr>
              <a:t>NR
(基線)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452104" y="3950861"/>
            <a:ext cx="682752" cy="1306938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14944" y="3713117"/>
            <a:ext cx="957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E2761"/>
                </a:solidFill>
                <a:latin typeface="Georgia"/>
                <a:ea typeface="Microsoft JhengHei"/>
              </a:rPr>
              <a:t>−26.1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14944" y="5330952"/>
            <a:ext cx="957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B7280"/>
                </a:solidFill>
                <a:latin typeface="Microsoft JhengHei"/>
                <a:ea typeface="Microsoft JhengHei"/>
              </a:rPr>
              <a:t>Risk
Parity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244584" y="3715512"/>
            <a:ext cx="682752" cy="1542288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07424" y="3477768"/>
            <a:ext cx="957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E2761"/>
                </a:solidFill>
                <a:latin typeface="Georgia"/>
                <a:ea typeface="Microsoft JhengHei"/>
              </a:rPr>
              <a:t>−30.8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07424" y="5330952"/>
            <a:ext cx="957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B7280"/>
                </a:solidFill>
                <a:latin typeface="Microsoft JhengHei"/>
                <a:ea typeface="Microsoft JhengHei"/>
              </a:rPr>
              <a:t>Rolling
MV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37064" y="3319925"/>
            <a:ext cx="682752" cy="1937874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899904" y="3082181"/>
            <a:ext cx="957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E2761"/>
                </a:solidFill>
                <a:latin typeface="Georgia"/>
                <a:ea typeface="Microsoft JhengHei"/>
              </a:rPr>
              <a:t>−38.7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899904" y="5330952"/>
            <a:ext cx="957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B7280"/>
                </a:solidFill>
                <a:latin typeface="Microsoft JhengHei"/>
                <a:ea typeface="Microsoft JhengHei"/>
              </a:rPr>
              <a:t>60/40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829544" y="3159687"/>
            <a:ext cx="682752" cy="2098112"/>
          </a:xfrm>
          <a:prstGeom prst="roundRect">
            <a:avLst>
              <a:gd name="adj" fmla="val 5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692384" y="2921943"/>
            <a:ext cx="957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E2761"/>
                </a:solidFill>
                <a:latin typeface="Georgia"/>
                <a:ea typeface="Microsoft JhengHei"/>
              </a:rPr>
              <a:t>−41.9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92384" y="5330952"/>
            <a:ext cx="9570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0">
                <a:solidFill>
                  <a:srgbClr val="6B7280"/>
                </a:solidFill>
                <a:latin typeface="Microsoft JhengHei"/>
                <a:ea typeface="Microsoft JhengHei"/>
              </a:rPr>
              <a:t>1/N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766560" y="5257800"/>
            <a:ext cx="5029200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7A28"/>
                </a:solidFill>
                <a:latin typeface="Microsoft JhengHei"/>
                <a:ea typeface="Microsoft JhengHei"/>
              </a:rPr>
              <a:t>06 · 核心成果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400" b="1" i="0">
                <a:solidFill>
                  <a:srgbClr val="1E2761"/>
                </a:solidFill>
                <a:latin typeface="Georgia"/>
                <a:ea typeface="Microsoft JhengHei"/>
              </a:rPr>
              <a:t>對長期投資人真正的效用:</a:t>
            </a:r>
          </a:p>
          <a:p>
            <a:pPr algn="l">
              <a:lnSpc>
                <a:spcPct val="122000"/>
              </a:lnSpc>
            </a:pPr>
            <a:r>
              <a:rPr sz="2400" b="1" i="0">
                <a:solidFill>
                  <a:srgbClr val="1E2761"/>
                </a:solidFill>
                <a:latin typeface="Georgia"/>
                <a:ea typeface="Microsoft JhengHei"/>
              </a:rPr>
              <a:t>確定性等值報酬 &amp; 體制辨識率雙雙提升。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40280"/>
            <a:ext cx="658368" cy="3600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651760"/>
            <a:ext cx="562356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6968" y="285292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88036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9A7A28"/>
                </a:solidFill>
                <a:latin typeface="Microsoft JhengHei"/>
                <a:ea typeface="Microsoft JhengHei"/>
              </a:rPr>
              <a:t>CRRA 確定性等值 (年化)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2918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9A7A28"/>
                </a:solidFill>
                <a:latin typeface="Georgia"/>
                <a:ea typeface="Microsoft JhengHei"/>
              </a:rPr>
              <a:t>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2062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Microsoft JhengHei"/>
                <a:ea typeface="Microsoft JhengHei"/>
              </a:rPr>
              <a:t>Narrative Regimes 基線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3291840"/>
            <a:ext cx="2697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100" b="0" i="0">
                <a:solidFill>
                  <a:srgbClr val="4A5060"/>
                </a:solidFill>
                <a:latin typeface="Microsoft JhengHei"/>
                <a:ea typeface="Microsoft JhengHei"/>
              </a:rPr>
              <a:t>超越 Risk Parity 的 2.6%</a:t>
            </a:r>
          </a:p>
          <a:p>
            <a:pPr algn="l">
              <a:lnSpc>
                <a:spcPct val="175000"/>
              </a:lnSpc>
            </a:pPr>
            <a:r>
              <a:rPr sz="1100" b="0" i="0">
                <a:solidFill>
                  <a:srgbClr val="4A5060"/>
                </a:solidFill>
                <a:latin typeface="Microsoft JhengHei"/>
                <a:ea typeface="Microsoft JhengHei"/>
              </a:rPr>
              <a:t>超越 60/40 的 1.1% (+170 bps)</a:t>
            </a:r>
          </a:p>
          <a:p>
            <a:pPr algn="l">
              <a:lnSpc>
                <a:spcPct val="175000"/>
              </a:lnSpc>
            </a:pPr>
            <a:r>
              <a:rPr sz="1100" b="0" i="0">
                <a:solidFill>
                  <a:srgbClr val="4A5060"/>
                </a:solidFill>
                <a:latin typeface="Microsoft JhengHei"/>
                <a:ea typeface="Microsoft JhengHei"/>
              </a:rPr>
              <a:t>超越 1/N 的 0.7% (+210 bps)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651760"/>
            <a:ext cx="507492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20840" y="2852928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88036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9A7A28"/>
                </a:solidFill>
                <a:latin typeface="Microsoft JhengHei"/>
                <a:ea typeface="Microsoft JhengHei"/>
              </a:rPr>
              <a:t>體制辨識準確率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29184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16F3A"/>
                </a:solidFill>
                <a:latin typeface="Georgia"/>
                <a:ea typeface="Microsoft JhengHei"/>
              </a:rPr>
              <a:t>+11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42062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Microsoft JhengHei"/>
                <a:ea typeface="Microsoft JhengHei"/>
              </a:rPr>
              <a:t>AI 敘事訊號之邊際貢獻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3291840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100" b="0" i="0">
                <a:solidFill>
                  <a:srgbClr val="4A5060"/>
                </a:solidFill>
                <a:latin typeface="Microsoft JhengHei"/>
                <a:ea typeface="Microsoft JhengHei"/>
              </a:rPr>
              <a:t>加入敘事訊號: 61%</a:t>
            </a:r>
          </a:p>
          <a:p>
            <a:pPr algn="l">
              <a:lnSpc>
                <a:spcPct val="175000"/>
              </a:lnSpc>
            </a:pPr>
            <a:r>
              <a:rPr sz="1100" b="0" i="0">
                <a:solidFill>
                  <a:srgbClr val="4A5060"/>
                </a:solidFill>
                <a:latin typeface="Microsoft JhengHei"/>
                <a:ea typeface="Microsoft JhengHei"/>
              </a:rPr>
              <a:t>只看報酬資料: 50%</a:t>
            </a:r>
          </a:p>
          <a:p>
            <a:pPr algn="l">
              <a:lnSpc>
                <a:spcPct val="175000"/>
              </a:lnSpc>
            </a:pPr>
            <a:r>
              <a:rPr sz="1100" b="0" i="0">
                <a:solidFill>
                  <a:srgbClr val="4A5060"/>
                </a:solidFill>
                <a:latin typeface="Microsoft JhengHei"/>
                <a:ea typeface="Microsoft JhengHei"/>
              </a:rPr>
              <a:t>每 1 pp 單調改善配置品質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937760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280"/>
                </a:solidFill>
                <a:latin typeface="Microsoft JhengHei"/>
                <a:ea typeface="Microsoft JhengHei"/>
              </a:rPr>
              <a:t>CRRA 是長期投資人最關心的效用函數 (γ=5),「確定性等值」= 相當於多少無風險年化報酬。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9377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 i="0">
                <a:solidFill>
                  <a:srgbClr val="6B7280"/>
                </a:solidFill>
                <a:latin typeface="Microsoft JhengHei"/>
                <a:ea typeface="Microsoft JhengHei"/>
              </a:rPr>
              <a:t>資料來源:Preprint Table 2 · 相同 30 條 MC 路徑。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486400"/>
            <a:ext cx="10972800" cy="777240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5486400"/>
            <a:ext cx="38000" cy="77724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559552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 i="0">
                <a:solidFill>
                  <a:srgbClr val="1E2761"/>
                </a:solidFill>
                <a:latin typeface="Georgia"/>
                <a:ea typeface="Microsoft JhengHei"/>
              </a:rPr>
              <a:t>配置決策內幕  </a:t>
            </a:r>
            <a:r>
              <a:rPr sz="1000" b="0" i="0">
                <a:solidFill>
                  <a:srgbClr val="384154"/>
                </a:solidFill>
                <a:latin typeface="Microsoft JhengHei"/>
                <a:ea typeface="Microsoft JhengHei"/>
              </a:rPr>
              <a:t>大部分回撤改善其實來自「體制偵測本身」;AI 敘事訊號的額外貢獻是在壓力期銳化後驗——也就是在最需要精準時最有用。只做 vs-60/40 比較的論文看不到,我們靠「消融實驗」誠實呈現。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7A28"/>
                </a:solidFill>
                <a:latin typeface="Microsoft JhengHei"/>
                <a:ea typeface="Microsoft JhengHei"/>
              </a:rPr>
              <a:t>07 · 精煉版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400" b="1" i="0">
                <a:solidFill>
                  <a:srgbClr val="1E2761"/>
                </a:solidFill>
                <a:latin typeface="Georgia"/>
                <a:ea typeface="Microsoft JhengHei"/>
              </a:rPr>
              <a:t>Narrative Regimes (iterated):</a:t>
            </a:r>
          </a:p>
          <a:p>
            <a:pPr algn="l">
              <a:lnSpc>
                <a:spcPct val="122000"/>
              </a:lnSpc>
            </a:pPr>
            <a:r>
              <a:rPr sz="2400" b="1" i="0">
                <a:solidFill>
                  <a:srgbClr val="1E2761"/>
                </a:solidFill>
                <a:latin typeface="Georgia"/>
                <a:ea typeface="Microsoft JhengHei"/>
              </a:rPr>
              <a:t>兩個關鍵改善,把回撤再降 4 pp、換手砍半。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40280"/>
            <a:ext cx="658368" cy="3600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606040"/>
            <a:ext cx="6126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 i="0">
                <a:solidFill>
                  <a:srgbClr val="2B2F40"/>
                </a:solidFill>
                <a:latin typeface="Microsoft JhengHei"/>
                <a:ea typeface="Microsoft JhengHei"/>
              </a:rPr>
              <a:t>以獨立 seed 做 30 次貪婪搜尋,從 10 個正交強化選項中只有 2 個真正帶來穩健改善:固定強度共變異數收縮 + 8% 年化波動率目標。其他 (動能、CVaR、Michaud、Kelly) 都在貪婪準則下被拒絕——符合「過度工程化會過度擬合」的一般經驗。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794760"/>
            <a:ext cx="612648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392277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950208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16F3A"/>
                </a:solidFill>
                <a:latin typeface="Microsoft JhengHei"/>
                <a:ea typeface="Microsoft JhengHei"/>
              </a:rPr>
              <a:t>✓ 採用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3922776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4154"/>
                </a:solidFill>
                <a:latin typeface="Microsoft JhengHei"/>
                <a:ea typeface="Microsoft JhengHei"/>
              </a:rPr>
              <a:t>固定 α=0.2 共變異數收縮 (Ledoit-Wolf 式)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361688"/>
            <a:ext cx="612648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1248" y="448970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517136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16F3A"/>
                </a:solidFill>
                <a:latin typeface="Microsoft JhengHei"/>
                <a:ea typeface="Microsoft JhengHei"/>
              </a:rPr>
              <a:t>✓ 採用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47088" y="4489704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84154"/>
                </a:solidFill>
                <a:latin typeface="Microsoft JhengHei"/>
                <a:ea typeface="Microsoft JhengHei"/>
              </a:rPr>
              <a:t>8% 年化波動率目標 (Vol Targeting)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928616"/>
            <a:ext cx="612648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505663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084064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1E2761"/>
                </a:solidFill>
                <a:latin typeface="Microsoft JhengHei"/>
                <a:ea typeface="Microsoft JhengHei"/>
              </a:rPr>
              <a:t>+ 微調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505663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84154"/>
                </a:solidFill>
                <a:latin typeface="Microsoft JhengHei"/>
                <a:ea typeface="Microsoft JhengHei"/>
              </a:rPr>
              <a:t>權重慣性 λ→0.85 · μ 收縮→0.4 · 10% 現金等價下限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495544"/>
            <a:ext cx="6126480" cy="493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562356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2D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50992"/>
            <a:ext cx="868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9A2D2D"/>
                </a:solidFill>
                <a:latin typeface="Microsoft JhengHei"/>
                <a:ea typeface="Microsoft JhengHei"/>
              </a:rPr>
              <a:t>✗ 拒絕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47088" y="562356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84154"/>
                </a:solidFill>
                <a:latin typeface="Microsoft JhengHei"/>
                <a:ea typeface="Microsoft JhengHei"/>
              </a:rPr>
              <a:t>動能疊加、CVaR 投影、Michaud 重抽、Kelly、RP 混合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2606040"/>
            <a:ext cx="230428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27889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B7280"/>
                </a:solidFill>
                <a:latin typeface="Microsoft JhengHei"/>
                <a:ea typeface="Microsoft JhengHei"/>
              </a:rPr>
              <a:t>SHARPE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3108960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A7A28"/>
                </a:solidFill>
                <a:latin typeface="Georgia"/>
                <a:ea typeface="Microsoft JhengHei"/>
              </a:rPr>
              <a:t>0.32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88620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Microsoft JhengHei"/>
                <a:ea typeface="Microsoft JhengHei"/>
              </a:rPr>
              <a:t>基線 0.30 · +7%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2606040"/>
            <a:ext cx="230428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278892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B7280"/>
                </a:solidFill>
                <a:latin typeface="Microsoft JhengHei"/>
                <a:ea typeface="Microsoft JhengHei"/>
              </a:rPr>
              <a:t>最大回撤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108960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A7A28"/>
                </a:solidFill>
                <a:latin typeface="Georgia"/>
                <a:ea typeface="Microsoft JhengHei"/>
              </a:rPr>
              <a:t>−18.7%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20" y="3886200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Microsoft JhengHei"/>
                <a:ea typeface="Microsoft JhengHei"/>
              </a:rPr>
              <a:t>基線 −22.7% · 降 4 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4416552"/>
            <a:ext cx="230428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459943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B7280"/>
                </a:solidFill>
                <a:latin typeface="Microsoft JhengHei"/>
                <a:ea typeface="Microsoft JhengHei"/>
              </a:rPr>
              <a:t>CRRA-CE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4919472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A7A28"/>
                </a:solidFill>
                <a:latin typeface="Georgia"/>
                <a:ea typeface="Microsoft JhengHei"/>
              </a:rPr>
              <a:t>3.04%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569671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Microsoft JhengHei"/>
                <a:ea typeface="Microsoft JhengHei"/>
              </a:rPr>
              <a:t>基線 2.77% · +27 bps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4416552"/>
            <a:ext cx="2304288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459943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6B7280"/>
                </a:solidFill>
                <a:latin typeface="Microsoft JhengHei"/>
                <a:ea typeface="Microsoft JhengHei"/>
              </a:rPr>
              <a:t>月換手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4919472"/>
            <a:ext cx="1938528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9A7A28"/>
                </a:solidFill>
                <a:latin typeface="Georgia"/>
                <a:ea typeface="Microsoft JhengHei"/>
              </a:rPr>
              <a:t>3.7%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5696712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6B7280"/>
                </a:solidFill>
                <a:latin typeface="Microsoft JhengHei"/>
                <a:ea typeface="Microsoft JhengHei"/>
              </a:rPr>
              <a:t>基線 7.5% · 幾乎砍半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622706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850" b="0" i="0">
                <a:solidFill>
                  <a:srgbClr val="6B7280"/>
                </a:solidFill>
                <a:latin typeface="Microsoft JhengHei"/>
                <a:ea typeface="Microsoft JhengHei"/>
              </a:rPr>
              <a:t>註:+27 bps CRRA-CE 位於單一路徑標準誤 (24 bps) 內,Sharpe 與最大回撤之改善為較穩健之訊號。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7A28"/>
                </a:solidFill>
                <a:latin typeface="Microsoft JhengHei"/>
                <a:ea typeface="Microsoft JhengHei"/>
              </a:rPr>
              <a:t>08 · 獨到貢獻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400" b="1" i="0">
                <a:solidFill>
                  <a:srgbClr val="1E2761"/>
                </a:solidFill>
                <a:latin typeface="Georgia"/>
                <a:ea typeface="Microsoft JhengHei"/>
              </a:rPr>
              <a:t>業界第一個「AI 訊號採用門檻」:</a:t>
            </a:r>
            <a:r>
              <a:rPr sz="2400" b="1" i="0">
                <a:solidFill>
                  <a:srgbClr val="9A7A28"/>
                </a:solidFill>
                <a:latin typeface="Georgia"/>
                <a:ea typeface="Microsoft JhengHei"/>
              </a:rPr>
              <a:t>β* ≈ 1</a:t>
            </a:r>
            <a:r>
              <a:rPr sz="2400" b="1" i="0">
                <a:solidFill>
                  <a:srgbClr val="1E2761"/>
                </a:solidFill>
                <a:latin typeface="Georgia"/>
                <a:ea typeface="Microsoft JhengHei"/>
              </a:rPr>
              <a:t>。</a:t>
            </a:r>
          </a:p>
          <a:p>
            <a:pPr algn="l">
              <a:lnSpc>
                <a:spcPct val="122000"/>
              </a:lnSpc>
            </a:pPr>
            <a:r>
              <a:rPr sz="2400" b="1" i="0">
                <a:solidFill>
                  <a:srgbClr val="1E2761"/>
                </a:solidFill>
                <a:latin typeface="Georgia"/>
                <a:ea typeface="Microsoft JhengHei"/>
              </a:rPr>
              <a:t>投委會可以「先量後用」。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40280"/>
            <a:ext cx="658368" cy="3600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651760"/>
            <a:ext cx="5852160" cy="841248"/>
          </a:xfrm>
          <a:prstGeom prst="roundRect">
            <a:avLst>
              <a:gd name="adj" fmla="val 5000"/>
            </a:avLst>
          </a:prstGeom>
          <a:solidFill>
            <a:srgbClr val="FB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651760"/>
            <a:ext cx="38000" cy="841248"/>
          </a:xfrm>
          <a:prstGeom prst="rect">
            <a:avLst/>
          </a:prstGeom>
          <a:solidFill>
            <a:srgbClr val="9A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7614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2D2D"/>
                </a:solidFill>
                <a:latin typeface="Georgia"/>
                <a:ea typeface="Microsoft JhengHei"/>
              </a:rPr>
              <a:t>β ≤ 0.5 · 不要用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06324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84154"/>
                </a:solidFill>
                <a:latin typeface="Microsoft JhengHei"/>
                <a:ea typeface="Microsoft JhengHei"/>
              </a:rPr>
              <a:t>加入敘事訊號反而讓 CRRA-CE 變差——典型「過度信任雜訊」的症狀。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611880"/>
            <a:ext cx="5852160" cy="841248"/>
          </a:xfrm>
          <a:prstGeom prst="roundRect">
            <a:avLst>
              <a:gd name="adj" fmla="val 5000"/>
            </a:avLst>
          </a:prstGeom>
          <a:solidFill>
            <a:srgbClr val="FBF4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611880"/>
            <a:ext cx="38000" cy="841248"/>
          </a:xfrm>
          <a:prstGeom prst="rect">
            <a:avLst/>
          </a:prstGeom>
          <a:solidFill>
            <a:srgbClr val="9A7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721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9A7A28"/>
                </a:solidFill>
                <a:latin typeface="Georgia"/>
                <a:ea typeface="Microsoft JhengHei"/>
              </a:rPr>
              <a:t>β ≈ 1 · 臨界點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02336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84154"/>
                </a:solidFill>
                <a:latin typeface="Microsoft JhengHei"/>
                <a:ea typeface="Microsoft JhengHei"/>
              </a:rPr>
              <a:t>剛好開始超越「只看報酬」的基準;這是採用門檻。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572000"/>
            <a:ext cx="5852160" cy="841248"/>
          </a:xfrm>
          <a:prstGeom prst="roundRect">
            <a:avLst>
              <a:gd name="adj" fmla="val 5000"/>
            </a:avLst>
          </a:prstGeom>
          <a:solidFill>
            <a:srgbClr val="E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572000"/>
            <a:ext cx="38000" cy="841248"/>
          </a:xfrm>
          <a:prstGeom prst="rect">
            <a:avLst/>
          </a:prstGeom>
          <a:solidFill>
            <a:srgbClr val="116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6817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16F3A"/>
                </a:solidFill>
                <a:latin typeface="Georgia"/>
                <a:ea typeface="Microsoft JhengHei"/>
              </a:rPr>
              <a:t>β ≥ 2 · 強烈建議採用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983480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384154"/>
                </a:solidFill>
                <a:latin typeface="Microsoft JhengHei"/>
                <a:ea typeface="Microsoft JhengHei"/>
              </a:rPr>
              <a:t>敘事濾波器嚴格主宰;β 越高領先越大。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623560"/>
            <a:ext cx="5852160" cy="713232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623560"/>
            <a:ext cx="38000" cy="713232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5715000"/>
            <a:ext cx="54864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1" i="0">
                <a:solidFill>
                  <a:srgbClr val="1E2761"/>
                </a:solidFill>
                <a:latin typeface="Georgia"/>
                <a:ea typeface="Microsoft JhengHei"/>
              </a:rPr>
              <a:t>實務翻譯  </a:t>
            </a:r>
            <a:r>
              <a:rPr sz="1000" b="0" i="0">
                <a:solidFill>
                  <a:srgbClr val="384154"/>
                </a:solidFill>
                <a:latin typeface="Microsoft JhengHei"/>
                <a:ea typeface="Microsoft JhengHei"/>
              </a:rPr>
              <a:t>機構用自家 AI 在持有期測出 β:先量化「我的 AI 夠不夠準」,再決定要不要動實錢。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651760"/>
            <a:ext cx="4846320" cy="338328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2834640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Georgia"/>
                <a:ea typeface="Microsoft JhengHei"/>
              </a:rPr>
              <a:t>CRRA-CE vs 訊噪比 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2004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2.3%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0" y="3291840.0"/>
            <a:ext cx="3749040" cy="0.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040880" y="39624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2.1%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80960" y="4053840.0"/>
            <a:ext cx="3749040" cy="0.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040880" y="47244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1.9%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0" y="4815840.0"/>
            <a:ext cx="3749040" cy="0.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040880" y="5486400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1.7%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80960" y="5577840.0"/>
            <a:ext cx="3749040" cy="0.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680960" y="5577840"/>
            <a:ext cx="3749040" cy="0"/>
          </a:xfrm>
          <a:prstGeom prst="line">
            <a:avLst/>
          </a:prstGeom>
          <a:ln w="10160">
            <a:solidFill>
              <a:srgbClr val="B9C0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498080" y="56235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0.25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5340" y="56235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56235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1.0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09860" y="56235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2.0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56235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4.0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5870448"/>
            <a:ext cx="3749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E2761"/>
                </a:solidFill>
                <a:latin typeface="Georgia"/>
                <a:ea typeface="Microsoft JhengHei"/>
              </a:rPr>
              <a:t>訊噪比 β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555480.0" y="3291840"/>
            <a:ext cx="0.0" cy="2286000"/>
          </a:xfrm>
          <a:prstGeom prst="line">
            <a:avLst/>
          </a:prstGeom>
          <a:ln w="9525">
            <a:solidFill>
              <a:srgbClr val="C9A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601200" y="329184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9A7A28"/>
                </a:solidFill>
                <a:latin typeface="Georgia"/>
                <a:ea typeface="Microsoft JhengHei"/>
              </a:rPr>
              <a:t>β* ≈ 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680960.0" y="4320540.0"/>
            <a:ext cx="937260.0" cy="228600.0"/>
          </a:xfrm>
          <a:prstGeom prst="line">
            <a:avLst/>
          </a:prstGeom>
          <a:ln w="19050">
            <a:solidFill>
              <a:srgbClr val="1E27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618220.0" y="4549140.0"/>
            <a:ext cx="937260.0" cy="495299.99999999907"/>
          </a:xfrm>
          <a:prstGeom prst="line">
            <a:avLst/>
          </a:prstGeom>
          <a:ln w="19050">
            <a:solidFill>
              <a:srgbClr val="1E27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555480.0" y="4244340.0"/>
            <a:ext cx="937260.0" cy="800099.9999999991"/>
          </a:xfrm>
          <a:prstGeom prst="line">
            <a:avLst/>
          </a:prstGeom>
          <a:ln w="19050">
            <a:solidFill>
              <a:srgbClr val="1E27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492740.0" y="3444240.0"/>
            <a:ext cx="937260.0" cy="800100.0"/>
          </a:xfrm>
          <a:prstGeom prst="line">
            <a:avLst/>
          </a:prstGeom>
          <a:ln w="19050">
            <a:solidFill>
              <a:srgbClr val="1E27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680960.0" y="5082539.999999999"/>
            <a:ext cx="937260.0" cy="266700.0"/>
          </a:xfrm>
          <a:prstGeom prst="line">
            <a:avLst/>
          </a:prstGeom>
          <a:ln w="25400">
            <a:solidFill>
              <a:srgbClr val="C9A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8618220.0" y="4815840.0"/>
            <a:ext cx="937260.0" cy="533399.9999999991"/>
          </a:xfrm>
          <a:prstGeom prst="line">
            <a:avLst/>
          </a:prstGeom>
          <a:ln w="25400">
            <a:solidFill>
              <a:srgbClr val="C9A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9555480.0" y="3901439.999999999"/>
            <a:ext cx="937260.0" cy="914400.0000000009"/>
          </a:xfrm>
          <a:prstGeom prst="line">
            <a:avLst/>
          </a:prstGeom>
          <a:ln w="25400">
            <a:solidFill>
              <a:srgbClr val="C9A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0492740.0" y="3444240.0"/>
            <a:ext cx="937260.0" cy="457199.99999999907"/>
          </a:xfrm>
          <a:prstGeom prst="line">
            <a:avLst/>
          </a:prstGeom>
          <a:ln w="25400">
            <a:solidFill>
              <a:srgbClr val="C9A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482328" y="474268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601200" y="3383280"/>
            <a:ext cx="182880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9738360" y="3538728"/>
            <a:ext cx="274320" cy="0"/>
          </a:xfrm>
          <a:prstGeom prst="line">
            <a:avLst/>
          </a:prstGeom>
          <a:ln w="25400">
            <a:solidFill>
              <a:srgbClr val="C9A3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058400" y="3438144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A1A1A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738360" y="3767328"/>
            <a:ext cx="274320" cy="0"/>
          </a:xfrm>
          <a:prstGeom prst="line">
            <a:avLst/>
          </a:prstGeom>
          <a:ln w="19050">
            <a:solidFill>
              <a:srgbClr val="1E27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058400" y="3666744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1A1A1A"/>
                </a:solidFill>
                <a:latin typeface="Microsoft JhengHei"/>
                <a:ea typeface="Microsoft JhengHei"/>
              </a:rPr>
              <a:t>Regime Only (無敘事)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608076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850" b="0" i="0">
                <a:solidFill>
                  <a:srgbClr val="6B7280"/>
                </a:solidFill>
                <a:latin typeface="Microsoft JhengHei"/>
                <a:ea typeface="Microsoft JhengHei"/>
              </a:rPr>
              <a:t>示意圖;實際數值見 Preprint Table 3 &amp; Figure 1。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7A28"/>
                </a:solidFill>
                <a:latin typeface="Microsoft JhengHei"/>
                <a:ea typeface="Microsoft JhengHei"/>
              </a:rPr>
              <a:t>09 · 可信度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 i="0">
                <a:solidFill>
                  <a:srgbClr val="1E2761"/>
                </a:solidFill>
                <a:latin typeface="Georgia"/>
                <a:ea typeface="Microsoft JhengHei"/>
              </a:rPr>
              <a:t>為什麼比其他「AI + 投資」論文可信?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40280"/>
            <a:ext cx="658368" cy="3600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514600"/>
            <a:ext cx="1097280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63347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Georgia"/>
                <a:ea typeface="Microsoft JhengHei"/>
              </a:rPr>
              <a:t>可信度檢查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263347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Georgia"/>
                <a:ea typeface="Microsoft JhengHei"/>
              </a:rPr>
              <a:t>典型 AI 金融論文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9248" y="2633472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Georgia"/>
                <a:ea typeface="Microsoft JhengHei"/>
              </a:rPr>
              <a:t>Narrative Regimes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971800"/>
            <a:ext cx="2743200" cy="4572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16368" y="2971800"/>
            <a:ext cx="4114800" cy="457200"/>
          </a:xfrm>
          <a:prstGeom prst="rect">
            <a:avLst/>
          </a:prstGeom>
          <a:solidFill>
            <a:srgbClr val="FB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58368" y="3429000"/>
            <a:ext cx="1097280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3108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E2761"/>
                </a:solidFill>
                <a:latin typeface="Microsoft JhengHei"/>
                <a:ea typeface="Microsoft JhengHei"/>
              </a:rPr>
              <a:t>前視偏差處理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1089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55B70"/>
                </a:solidFill>
                <a:latin typeface="Microsoft JhengHei"/>
                <a:ea typeface="Microsoft JhengHei"/>
              </a:rPr>
              <a:t>AI 訓練語料涵蓋未來,績效常被高估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31089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9A7A28"/>
                </a:solidFill>
                <a:latin typeface="Microsoft JhengHei"/>
                <a:ea typeface="Microsoft JhengHei"/>
              </a:rPr>
              <a:t>★ MC 模擬訊號,結構性消除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429000"/>
            <a:ext cx="10972800" cy="4572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429000"/>
            <a:ext cx="2743200" cy="4572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16368" y="3429000"/>
            <a:ext cx="4114800" cy="457200"/>
          </a:xfrm>
          <a:prstGeom prst="rect">
            <a:avLst/>
          </a:prstGeom>
          <a:solidFill>
            <a:srgbClr val="FB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658368" y="3886200"/>
            <a:ext cx="1097280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8" y="3566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E2761"/>
                </a:solidFill>
                <a:latin typeface="Microsoft JhengHei"/>
                <a:ea typeface="Microsoft JhengHei"/>
              </a:rPr>
              <a:t>消融對照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4448" y="3566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55B70"/>
                </a:solidFill>
                <a:latin typeface="Microsoft JhengHei"/>
                <a:ea typeface="Microsoft JhengHei"/>
              </a:rPr>
              <a:t>多為 vs-60/40,AI 功勞被誇大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3566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9A7A28"/>
                </a:solidFill>
                <a:latin typeface="Microsoft JhengHei"/>
                <a:ea typeface="Microsoft JhengHei"/>
              </a:rPr>
              <a:t>★ 附 RegimeOnly、Moment-mix 兩種消融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886200"/>
            <a:ext cx="2743200" cy="4572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16368" y="3886200"/>
            <a:ext cx="4114800" cy="457200"/>
          </a:xfrm>
          <a:prstGeom prst="rect">
            <a:avLst/>
          </a:prstGeom>
          <a:solidFill>
            <a:srgbClr val="FB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58368" y="4343400"/>
            <a:ext cx="1097280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1248" y="40233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E2761"/>
                </a:solidFill>
                <a:latin typeface="Microsoft JhengHei"/>
                <a:ea typeface="Microsoft JhengHei"/>
              </a:rPr>
              <a:t>可審計性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4448" y="40233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55B70"/>
                </a:solidFill>
                <a:latin typeface="Microsoft JhengHei"/>
                <a:ea typeface="Microsoft JhengHei"/>
              </a:rPr>
              <a:t>多為端到端黑盒 (強化學習、神經網路)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40233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9A7A28"/>
                </a:solidFill>
                <a:latin typeface="Microsoft JhengHei"/>
                <a:ea typeface="Microsoft JhengHei"/>
              </a:rPr>
              <a:t>★ 後驗 p(z_t) 可解釋到每一次調整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343400"/>
            <a:ext cx="10972800" cy="4572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343400"/>
            <a:ext cx="2743200" cy="4572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16368" y="4343400"/>
            <a:ext cx="4114800" cy="457200"/>
          </a:xfrm>
          <a:prstGeom prst="rect">
            <a:avLst/>
          </a:prstGeom>
          <a:solidFill>
            <a:srgbClr val="FB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58368" y="4800600"/>
            <a:ext cx="1097280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1248" y="44805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E2761"/>
                </a:solidFill>
                <a:latin typeface="Microsoft JhengHei"/>
                <a:ea typeface="Microsoft JhengHei"/>
              </a:rPr>
              <a:t>採用門檻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4448" y="44805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55B70"/>
                </a:solidFill>
                <a:latin typeface="Microsoft JhengHei"/>
                <a:ea typeface="Microsoft JhengHei"/>
              </a:rPr>
              <a:t>無;只給相對基準的超額報酬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44805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9A7A28"/>
                </a:solidFill>
                <a:latin typeface="Microsoft JhengHei"/>
                <a:ea typeface="Microsoft JhengHei"/>
              </a:rPr>
              <a:t>★ β* ≈ 1,機構可用自家 AI 驗證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800600"/>
            <a:ext cx="2743200" cy="4572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16368" y="4800600"/>
            <a:ext cx="4114800" cy="457200"/>
          </a:xfrm>
          <a:prstGeom prst="rect">
            <a:avLst/>
          </a:prstGeom>
          <a:solidFill>
            <a:srgbClr val="FB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658368" y="5257800"/>
            <a:ext cx="1097280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41248" y="4937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E2761"/>
                </a:solidFill>
                <a:latin typeface="Microsoft JhengHei"/>
                <a:ea typeface="Microsoft JhengHei"/>
              </a:rPr>
              <a:t>成本穩健性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4448" y="4937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55B70"/>
                </a:solidFill>
                <a:latin typeface="Microsoft JhengHei"/>
                <a:ea typeface="Microsoft JhengHei"/>
              </a:rPr>
              <a:t>罕見完整 τ 掃描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4937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9A7A28"/>
                </a:solidFill>
                <a:latin typeface="Microsoft JhengHei"/>
                <a:ea typeface="Microsoft JhengHei"/>
              </a:rPr>
              <a:t>★ τ∈{0,5,10,20,50} bps 掃描皆保持領先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5257800"/>
            <a:ext cx="10972800" cy="4572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5257800"/>
            <a:ext cx="2743200" cy="4572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516368" y="5257800"/>
            <a:ext cx="4114800" cy="457200"/>
          </a:xfrm>
          <a:prstGeom prst="rect">
            <a:avLst/>
          </a:prstGeom>
          <a:solidFill>
            <a:srgbClr val="FB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658368" y="5715000"/>
            <a:ext cx="1097280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41248" y="53949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E2761"/>
                </a:solidFill>
                <a:latin typeface="Microsoft JhengHei"/>
                <a:ea typeface="Microsoft JhengHei"/>
              </a:rPr>
              <a:t>開源與復現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84448" y="53949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55B70"/>
                </a:solidFill>
                <a:latin typeface="Microsoft JhengHei"/>
                <a:ea typeface="Microsoft JhengHei"/>
              </a:rPr>
              <a:t>多為論文 only、或 demo-level code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53949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9A7A28"/>
                </a:solidFill>
                <a:latin typeface="Microsoft JhengHei"/>
                <a:ea typeface="Microsoft JhengHei"/>
              </a:rPr>
              <a:t>★ MIT licence · 完整復現包 · 種子預登記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5715000"/>
            <a:ext cx="2743200" cy="457200"/>
          </a:xfrm>
          <a:prstGeom prst="rect">
            <a:avLst/>
          </a:prstGeom>
          <a:solidFill>
            <a:srgbClr val="F5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16368" y="5715000"/>
            <a:ext cx="4114800" cy="457200"/>
          </a:xfrm>
          <a:prstGeom prst="rect">
            <a:avLst/>
          </a:prstGeom>
          <a:solidFill>
            <a:srgbClr val="FBF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658368" y="6172200"/>
            <a:ext cx="10972800" cy="0"/>
          </a:xfrm>
          <a:prstGeom prst="line">
            <a:avLst/>
          </a:prstGeom>
          <a:ln w="508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41248" y="58521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E2761"/>
                </a:solidFill>
                <a:latin typeface="Microsoft JhengHei"/>
                <a:ea typeface="Microsoft JhengHei"/>
              </a:rPr>
              <a:t>AI 使用宣告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84448" y="5852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55B70"/>
                </a:solidFill>
                <a:latin typeface="Microsoft JhengHei"/>
                <a:ea typeface="Microsoft JhengHei"/>
              </a:rPr>
              <a:t>少見或含糊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99248" y="58521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9A7A28"/>
                </a:solidFill>
                <a:latin typeface="Microsoft JhengHei"/>
                <a:ea typeface="Microsoft JhengHei"/>
              </a:rPr>
              <a:t>★ 依 Elsevier CRediT 完整揭露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7A28"/>
                </a:solidFill>
                <a:latin typeface="Microsoft JhengHei"/>
                <a:ea typeface="Microsoft JhengHei"/>
              </a:rPr>
              <a:t>10 · 給投資委員會的務實啟示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 i="0">
                <a:solidFill>
                  <a:srgbClr val="1E2761"/>
                </a:solidFill>
                <a:latin typeface="Georgia"/>
                <a:ea typeface="Microsoft JhengHei"/>
              </a:rPr>
              <a:t>五條可以直接寫進投委會備忘錄的原則。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40280"/>
            <a:ext cx="658368" cy="3600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331720"/>
            <a:ext cx="54864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496312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9A7A28"/>
                </a:solidFill>
                <a:latin typeface="Georgia"/>
                <a:ea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53288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先量化,再採用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2898648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4A5060"/>
                </a:solidFill>
                <a:latin typeface="Microsoft JhengHei"/>
                <a:ea typeface="Microsoft JhengHei"/>
              </a:rPr>
              <a:t>不要被發表的 AI 金融軼事說服;先在持有期量出自家 AI 的訊噪比 β,過 β* ≈ 1 才讓它動到實錢。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2331720"/>
            <a:ext cx="54864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2496312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9A7A28"/>
                </a:solidFill>
                <a:latin typeface="Georgia"/>
                <a:ea typeface="Microsoft Jheng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0336" y="2532888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保留體制異質性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0336" y="2898648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4A5060"/>
                </a:solidFill>
                <a:latin typeface="Microsoft JhengHei"/>
                <a:ea typeface="Microsoft JhengHei"/>
              </a:rPr>
              <a:t>「先用機率加權每個體制的均值與共變異,再做一次最佳化」會損失約 20% 的回撤改善;要做「每個體制分別最佳化再混合」。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858768"/>
            <a:ext cx="54864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402336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9A7A28"/>
                </a:solidFill>
                <a:latin typeface="Georgia"/>
                <a:ea typeface="Microsoft Jheng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405993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消融優於比基準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4425696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4A5060"/>
                </a:solidFill>
                <a:latin typeface="Microsoft JhengHei"/>
                <a:ea typeface="Microsoft JhengHei"/>
              </a:rPr>
              <a:t>評估 AI 訊號時,一定要放一個「無敘事、只看報酬」的版本做消融對照;否則 AI 的功勞會被「體制偵測本身」灌水。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4496" y="3858768"/>
            <a:ext cx="5486400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3096" y="402336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9A7A28"/>
                </a:solidFill>
                <a:latin typeface="Georgia"/>
                <a:ea typeface="Microsoft Jheng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0336" y="4059936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尊重換手預算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4425696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4A5060"/>
                </a:solidFill>
                <a:latin typeface="Microsoft JhengHei"/>
                <a:ea typeface="Microsoft JhengHei"/>
              </a:rPr>
              <a:t>本框架月換手約為風險平價的 2-10 倍;有交易預算限制的機構請調高權重慣性 λ 或僅在策略重配視窗啟用體制傾斜。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385816"/>
            <a:ext cx="11082528" cy="1143000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5550408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9A7A28"/>
                </a:solidFill>
                <a:latin typeface="Georgia"/>
                <a:ea typeface="Microsoft Jheng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558698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把它當決策支援,而不是黑盒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5952744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4A5060"/>
                </a:solidFill>
                <a:latin typeface="Microsoft JhengHei"/>
                <a:ea typeface="Microsoft JhengHei"/>
              </a:rPr>
              <a:t>後驗 p(z_t | F_t) 可解釋——每次調整你都能問:「是哪個體制、哪條新聞、多少信心?」這是純強化學習端到端方案結構性無法提供的審計能力。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7A28"/>
                </a:solidFill>
                <a:latin typeface="Microsoft JhengHei"/>
                <a:ea typeface="Microsoft JhengHei"/>
              </a:rPr>
              <a:t>11 · 誠實揭露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600" b="1" i="0">
                <a:solidFill>
                  <a:srgbClr val="1E2761"/>
                </a:solidFill>
                <a:latin typeface="Georgia"/>
                <a:ea typeface="Microsoft JhengHei"/>
              </a:rPr>
              <a:t>我們</a:t>
            </a:r>
            <a:r>
              <a:rPr sz="2600" b="1" i="0">
                <a:solidFill>
                  <a:srgbClr val="9A7A28"/>
                </a:solidFill>
                <a:latin typeface="Georgia"/>
                <a:ea typeface="Microsoft JhengHei"/>
              </a:rPr>
              <a:t>不</a:t>
            </a:r>
            <a:r>
              <a:rPr sz="2600" b="1" i="0">
                <a:solidFill>
                  <a:srgbClr val="1E2761"/>
                </a:solidFill>
                <a:latin typeface="Georgia"/>
                <a:ea typeface="Microsoft JhengHei"/>
              </a:rPr>
              <a:t>主張什麼 · 以及下一步要驗什麼。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40280"/>
            <a:ext cx="658368" cy="3600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69748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880360"/>
            <a:ext cx="621792" cy="219456"/>
          </a:xfrm>
          <a:prstGeom prst="roundRect">
            <a:avLst>
              <a:gd name="adj" fmla="val 50000"/>
            </a:avLst>
          </a:prstGeom>
          <a:solidFill>
            <a:srgbClr val="F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800" b="1">
                <a:solidFill>
                  <a:srgbClr val="9A2D2D"/>
                </a:solidFill>
                <a:latin typeface="Microsoft JhengHei"/>
                <a:ea typeface="Microsoft JhengHei"/>
              </a:rPr>
              <a:t>目前不是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20954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實證驗證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593592"/>
            <a:ext cx="32918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84154"/>
                </a:solidFill>
                <a:latin typeface="Microsoft JhengHei"/>
                <a:ea typeface="Microsoft JhengHei"/>
              </a:rPr>
              <a:t>本版僅做「蒙地卡羅模擬」內部效度評估。刻意的設計——因為模擬可結構性消除前視偏差——但不等同於真實資料上的外部效度。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269748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36008" y="2880360"/>
            <a:ext cx="621792" cy="219456"/>
          </a:xfrm>
          <a:prstGeom prst="roundRect">
            <a:avLst>
              <a:gd name="adj" fmla="val 50000"/>
            </a:avLst>
          </a:prstGeom>
          <a:solidFill>
            <a:srgbClr val="F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800" b="1">
                <a:solidFill>
                  <a:srgbClr val="9A2D2D"/>
                </a:solidFill>
                <a:latin typeface="Microsoft JhengHei"/>
                <a:ea typeface="Microsoft JhengHei"/>
              </a:rPr>
              <a:t>目前不是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320954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通用的敘事訊號模型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3593592"/>
            <a:ext cx="32918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84154"/>
                </a:solidFill>
                <a:latin typeface="Microsoft JhengHei"/>
                <a:ea typeface="Microsoft JhengHei"/>
              </a:rPr>
              <a:t>模擬用 one-hot + 等向高斯雜訊;真實 AI 分類器的混淆矩陣非等向、有誤差自相關、會在體制切換時漂移。β* ≈ 1 應視為實務門檻下限。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2697480"/>
            <a:ext cx="3657600" cy="237744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30768" y="2880360"/>
            <a:ext cx="621792" cy="219456"/>
          </a:xfrm>
          <a:prstGeom prst="roundRect">
            <a:avLst>
              <a:gd name="adj" fmla="val 50000"/>
            </a:avLst>
          </a:prstGeom>
          <a:solidFill>
            <a:srgbClr val="F2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800" b="1">
                <a:solidFill>
                  <a:srgbClr val="9A2D2D"/>
                </a:solidFill>
                <a:latin typeface="Microsoft JhengHei"/>
                <a:ea typeface="Microsoft JhengHei"/>
              </a:rPr>
              <a:t>目前不是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20954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E2761"/>
                </a:solidFill>
                <a:latin typeface="Georgia"/>
                <a:ea typeface="Microsoft JhengHei"/>
              </a:rPr>
              <a:t>厚尾 / 偏態收益模型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3593592"/>
            <a:ext cx="3291840" cy="1298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84154"/>
                </a:solidFill>
                <a:latin typeface="Microsoft JhengHei"/>
                <a:ea typeface="Microsoft JhengHei"/>
              </a:rPr>
              <a:t>目前使用每體制高斯收益;擴展到厚尾與偏態 (Cont, 2001) 是機械性修改,不改變濾波器結構。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349240"/>
            <a:ext cx="10972800" cy="960120"/>
          </a:xfrm>
          <a:prstGeom prst="roundRect">
            <a:avLst>
              <a:gd name="adj" fmla="val 5000"/>
            </a:avLst>
          </a:prstGeom>
          <a:solidFill>
            <a:srgbClr val="F6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5349240"/>
            <a:ext cx="38000" cy="96012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58968"/>
            <a:ext cx="10789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i="0">
                <a:solidFill>
                  <a:srgbClr val="1E2761"/>
                </a:solidFill>
                <a:latin typeface="Georgia"/>
                <a:ea typeface="Microsoft JhengHei"/>
              </a:rPr>
              <a:t>下一步 · 自然延伸</a:t>
            </a:r>
          </a:p>
          <a:p>
            <a:pPr algn="l">
              <a:lnSpc>
                <a:spcPct val="160000"/>
              </a:lnSpc>
            </a:pPr>
            <a:r>
              <a:rPr sz="1050" b="0" i="0">
                <a:solidFill>
                  <a:srgbClr val="384154"/>
                </a:solidFill>
                <a:latin typeface="Microsoft JhengHei"/>
                <a:ea typeface="Microsoft JhengHei"/>
              </a:rPr>
              <a:t>在 AI 訓練截止日之後的持有期 (post-cutoff holdout) 上做實證複現——且由可信任的第三方執行,以避免開發階段的隱性前視。我們在尋找願意共同進行此驗證的機構合作夥伴。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7A28"/>
                </a:solidFill>
                <a:latin typeface="Microsoft JhengHei"/>
                <a:ea typeface="Microsoft JhengHei"/>
              </a:rPr>
              <a:t>12 · 路線圖 &amp; 合作機會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2800" b="1" i="0">
                <a:solidFill>
                  <a:srgbClr val="1E2761"/>
                </a:solidFill>
                <a:latin typeface="Georgia"/>
                <a:ea typeface="Microsoft JhengHei"/>
              </a:rPr>
              <a:t>從研究到機構落地,三種合作型態。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40280"/>
            <a:ext cx="658368" cy="3600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024128" y="3108960"/>
            <a:ext cx="10241280" cy="0"/>
          </a:xfrm>
          <a:prstGeom prst="line">
            <a:avLst/>
          </a:prstGeom>
          <a:ln w="1905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627632" y="29809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429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Georgia"/>
                <a:ea typeface="Microsoft JhengHei"/>
              </a:rPr>
              <a:t>2026 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7490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 i="0">
                <a:solidFill>
                  <a:srgbClr val="4A5060"/>
                </a:solidFill>
                <a:latin typeface="Microsoft JhengHei"/>
                <a:ea typeface="Microsoft JhengHei"/>
              </a:rPr>
              <a:t>Preprint v0.2 發佈 (現況)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22192" y="29809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3429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E2761"/>
                </a:solidFill>
                <a:latin typeface="Georgia"/>
                <a:ea typeface="Microsoft JhengHei"/>
              </a:rPr>
              <a:t>2026 Q3-Q4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37490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 i="0">
                <a:solidFill>
                  <a:srgbClr val="4A5060"/>
                </a:solidFill>
                <a:latin typeface="Microsoft JhengHei"/>
                <a:ea typeface="Microsoft JhengHei"/>
              </a:rPr>
              <a:t>期刊同儕評審 · 首家機構試點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29809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3429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Georgia"/>
                <a:ea typeface="Microsoft JhengHei"/>
              </a:rPr>
              <a:t>2027 Q1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37490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 i="0">
                <a:solidFill>
                  <a:srgbClr val="6B7280"/>
                </a:solidFill>
                <a:latin typeface="Microsoft JhengHei"/>
                <a:ea typeface="Microsoft JhengHei"/>
              </a:rPr>
              <a:t>Post-cutoff 實證復現試點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11312" y="29809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24928" y="3429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Georgia"/>
                <a:ea typeface="Microsoft JhengHei"/>
              </a:rPr>
              <a:t>2027 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37490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 i="0">
                <a:solidFill>
                  <a:srgbClr val="6B7280"/>
                </a:solidFill>
                <a:latin typeface="Microsoft JhengHei"/>
                <a:ea typeface="Microsoft JhengHei"/>
              </a:rPr>
              <a:t>機構級 API 整合參考實作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05872" y="29809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9488" y="3429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6B7280"/>
                </a:solidFill>
                <a:latin typeface="Georgia"/>
                <a:ea typeface="Microsoft JhengHei"/>
              </a:rPr>
              <a:t>2028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8048" y="3749040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000" b="0" i="0">
                <a:solidFill>
                  <a:srgbClr val="6B7280"/>
                </a:solidFill>
                <a:latin typeface="Microsoft JhengHei"/>
                <a:ea typeface="Microsoft JhengHei"/>
              </a:rPr>
              <a:t>治理白皮書 · 厚尾 DGP 擴展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663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E2761"/>
                </a:solidFill>
                <a:latin typeface="Georgia"/>
                <a:ea typeface="Microsoft JhengHei"/>
              </a:rPr>
              <a:t>歡迎下列三種合作形態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16636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1248" y="5349240"/>
            <a:ext cx="950976" cy="219456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800" b="1">
                <a:solidFill>
                  <a:srgbClr val="9A7A28"/>
                </a:solidFill>
                <a:latin typeface="Microsoft JhengHei"/>
                <a:ea typeface="Microsoft JhengHei"/>
              </a:rPr>
              <a:t>A · 試點夥伴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" y="5678424"/>
            <a:ext cx="3291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84154"/>
                </a:solidFill>
                <a:latin typeface="Microsoft JhengHei"/>
                <a:ea typeface="Microsoft JhengHei"/>
              </a:rPr>
              <a:t>一家機構以自家資料 + 自家 AI 跑一個 post-cutoff holdout,驗證框架實證效度。預計 3-6 個月。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516636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36008" y="5349240"/>
            <a:ext cx="1033271" cy="219456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800" b="1">
                <a:solidFill>
                  <a:srgbClr val="9A7A28"/>
                </a:solidFill>
                <a:latin typeface="Microsoft JhengHei"/>
                <a:ea typeface="Microsoft JhengHei"/>
              </a:rPr>
              <a:t>B · 方法學顧問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5678424"/>
            <a:ext cx="3291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84154"/>
                </a:solidFill>
                <a:latin typeface="Microsoft JhengHei"/>
                <a:ea typeface="Microsoft JhengHei"/>
              </a:rPr>
              <a:t>協助機構把 Narrative Regimes 整合進既有 SAA 流程 (濾波器、配置器、審計介面)。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7888" y="516636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F5F7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30768" y="5349240"/>
            <a:ext cx="950976" cy="219456"/>
          </a:xfrm>
          <a:prstGeom prst="roundRect">
            <a:avLst>
              <a:gd name="adj" fmla="val 50000"/>
            </a:avLst>
          </a:prstGeom>
          <a:solidFill>
            <a:srgbClr val="FB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000" rIns="45000" tIns="0" bIns="0"/>
          <a:lstStyle/>
          <a:p>
            <a:pPr algn="ctr"/>
            <a:r>
              <a:rPr sz="800" b="1">
                <a:solidFill>
                  <a:srgbClr val="9A7A28"/>
                </a:solidFill>
                <a:latin typeface="Microsoft JhengHei"/>
                <a:ea typeface="Microsoft JhengHei"/>
              </a:rPr>
              <a:t>C · 研究贊助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5678424"/>
            <a:ext cx="32918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84154"/>
                </a:solidFill>
                <a:latin typeface="Microsoft JhengHei"/>
                <a:ea typeface="Microsoft JhengHei"/>
              </a:rPr>
              <a:t>贊助下一階段:厚尾 / 偏態 DGP、AI 不確定性 (Dirichlet-Gaussian 後驗)、治理白皮書。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A7A28"/>
                </a:solidFill>
                <a:latin typeface="Microsoft JhengHei"/>
                <a:ea typeface="Microsoft JhengHei"/>
              </a:rPr>
              <a:t>13 · 作者與信任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68680"/>
            <a:ext cx="109728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000" b="1" i="0">
                <a:solidFill>
                  <a:srgbClr val="1E2761"/>
                </a:solidFill>
                <a:latin typeface="Georgia"/>
                <a:ea typeface="Microsoft JhengHei"/>
              </a:rPr>
              <a:t>獨立研究 · 公開透明 · 可復現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240280"/>
            <a:ext cx="658368" cy="36000"/>
          </a:xfrm>
          <a:prstGeom prst="rect">
            <a:avLst/>
          </a:prstGeom>
          <a:solidFill>
            <a:srgbClr val="C9A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697480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" y="3017520"/>
            <a:ext cx="1005840" cy="10058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264408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C9A34E"/>
                </a:solidFill>
                <a:latin typeface="Georgia"/>
                <a:ea typeface="Microsoft JhengHei"/>
              </a:rPr>
              <a:t>RC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5688" y="306324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761"/>
                </a:solidFill>
                <a:latin typeface="Georgia"/>
                <a:ea typeface="Microsoft JhengHei"/>
              </a:rPr>
              <a:t>Roger Chuang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353872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Microsoft JhengHei"/>
                <a:ea typeface="Microsoft JhengHei"/>
              </a:rPr>
              <a:t>Independent Researcher · Taipei, Taiwan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5688" y="3794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Microsoft JhengHei"/>
                <a:ea typeface="Microsoft JhengHei"/>
              </a:rPr>
              <a:t>roger.chuang@jjr.com.tw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25196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150" b="0" i="0">
                <a:solidFill>
                  <a:srgbClr val="384154"/>
                </a:solidFill>
                <a:latin typeface="Microsoft JhengHei"/>
                <a:ea typeface="Microsoft JhengHei"/>
              </a:rPr>
              <a:t>聚焦決策支援系統 × 長期投資人資產配置;研究取徑堅持內部效度先於敘事、消融重於 benchmark、開源復現重於單點結果。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697480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65392" y="2816352"/>
            <a:ext cx="301752" cy="3017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852928"/>
            <a:ext cx="301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9A34E"/>
                </a:solidFill>
                <a:latin typeface="Georgia"/>
                <a:ea typeface="Microsoft JhengHe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86207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Microsoft JhengHei"/>
                <a:ea typeface="Microsoft JhengHei"/>
              </a:rPr>
              <a:t>已投遞 Decision Support Systems (2026-04)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319272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65392" y="3438144"/>
            <a:ext cx="301752" cy="3017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474720"/>
            <a:ext cx="301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9A34E"/>
                </a:solidFill>
                <a:latin typeface="Georgia"/>
                <a:ea typeface="Microsoft JhengHe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48386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Microsoft JhengHei"/>
                <a:ea typeface="Microsoft JhengHei"/>
              </a:rPr>
              <a:t>MIT Licence · 代碼 / 模擬 / 復現包全部開源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941064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65392" y="4059936"/>
            <a:ext cx="301752" cy="3017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5392" y="4096512"/>
            <a:ext cx="301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9A34E"/>
                </a:solidFill>
                <a:latin typeface="Georgia"/>
                <a:ea typeface="Microsoft JhengHe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10565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Microsoft JhengHei"/>
                <a:ea typeface="Microsoft JhengHei"/>
              </a:rPr>
              <a:t>種子預登記 · 所有 MC 實驗 seed 於結果檢視前揭示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562856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65392" y="4681728"/>
            <a:ext cx="301752" cy="3017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4718304"/>
            <a:ext cx="301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9A34E"/>
                </a:solidFill>
                <a:latin typeface="Georgia"/>
                <a:ea typeface="Microsoft JhengHe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60" y="472744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Microsoft JhengHei"/>
                <a:ea typeface="Microsoft JhengHei"/>
              </a:rPr>
              <a:t>AI 使用宣告 · 依 Elsevier CRediT 完整揭露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184648"/>
            <a:ext cx="5212080" cy="548640"/>
          </a:xfrm>
          <a:prstGeom prst="roundRect">
            <a:avLst>
              <a:gd name="adj" fmla="val 8000"/>
            </a:avLst>
          </a:prstGeom>
          <a:solidFill>
            <a:srgbClr val="F5F7FB"/>
          </a:solidFill>
          <a:ln w="508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65392" y="5303520"/>
            <a:ext cx="301752" cy="3017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65392" y="5340096"/>
            <a:ext cx="3017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C9A34E"/>
                </a:solidFill>
                <a:latin typeface="Georgia"/>
                <a:ea typeface="Microsoft JhengHe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534924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E2761"/>
                </a:solidFill>
                <a:latin typeface="Microsoft JhengHei"/>
                <a:ea typeface="Microsoft JhengHei"/>
              </a:rPr>
              <a:t>核心實作約 350 行 Python (numpy, pandas),可完整審閱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E2761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Georgia"/>
                <a:ea typeface="Microsoft JhengHe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0"/>
            <a:ext cx="94484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2A3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75520" y="-1737360"/>
            <a:ext cx="2560320" cy="2560320"/>
          </a:xfrm>
          <a:prstGeom prst="ellipse">
            <a:avLst/>
          </a:prstGeom>
          <a:noFill/>
          <a:ln w="6350">
            <a:solidFill>
              <a:srgbClr val="C9A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-2468880"/>
            <a:ext cx="4023360" cy="4023360"/>
          </a:xfrm>
          <a:prstGeom prst="ellipse">
            <a:avLst/>
          </a:prstGeom>
          <a:noFill/>
          <a:ln w="6350">
            <a:solidFill>
              <a:srgbClr val="C9A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0" y="-3200400"/>
            <a:ext cx="5486400" cy="5486400"/>
          </a:xfrm>
          <a:prstGeom prst="ellipse">
            <a:avLst/>
          </a:prstGeom>
          <a:noFill/>
          <a:ln w="6350">
            <a:solidFill>
              <a:srgbClr val="C9A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9144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C9A34E"/>
                </a:solidFill>
                <a:latin typeface="Microsoft JhengHei"/>
                <a:ea typeface="Microsoft JhengHei"/>
              </a:rPr>
              <a:t>結語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09728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  <a:ea typeface="Microsoft JhengHei"/>
              </a:rPr>
              <a:t>把 AI 放進 SAA 流程,</a:t>
            </a:r>
          </a:p>
          <a:p>
            <a:pPr algn="l">
              <a:lnSpc>
                <a:spcPct val="122000"/>
              </a:lnSpc>
            </a:pPr>
            <a:r>
              <a:rPr sz="3600" b="1" i="0">
                <a:solidFill>
                  <a:srgbClr val="C9A34E"/>
                </a:solidFill>
                <a:latin typeface="Georgia"/>
                <a:ea typeface="Microsoft JhengHei"/>
              </a:rPr>
              <a:t>不應該是信仰,</a:t>
            </a:r>
          </a:p>
          <a:p>
            <a:pPr algn="l">
              <a:lnSpc>
                <a:spcPct val="122000"/>
              </a:lnSpc>
            </a:pPr>
            <a:r>
              <a:rPr sz="3600" b="1" i="0">
                <a:solidFill>
                  <a:srgbClr val="C9A34E"/>
                </a:solidFill>
                <a:latin typeface="Georgia"/>
                <a:ea typeface="Microsoft JhengHei"/>
              </a:rPr>
              <a:t>而應該是有門檻、可審計、可撤回的決定。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251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300" b="0" i="0">
                <a:solidFill>
                  <a:srgbClr val="D7DCEA"/>
                </a:solidFill>
                <a:latin typeface="Microsoft JhengHei"/>
                <a:ea typeface="Microsoft JhengHei"/>
              </a:rPr>
              <a:t>Narrative Regimes 提供這樣的入口——附上採用門檻、消融對照、可審計後驗、開源復現。歡迎機構投資人、研究夥伴與長期資產配置者一同檢驗、挑戰、合作。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349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C0D4"/>
                </a:solidFill>
                <a:latin typeface="Microsoft JhengHei"/>
                <a:ea typeface="Microsoft JhengHei"/>
              </a:rPr>
              <a:t>CONTACT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Georgia"/>
                <a:ea typeface="Microsoft JhengHei"/>
              </a:rPr>
              <a:t>roger.chuang@jjr.com.tw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5349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C0D4"/>
                </a:solidFill>
                <a:latin typeface="Microsoft JhengHei"/>
                <a:ea typeface="Microsoft JhengHei"/>
              </a:rPr>
              <a:t>NEXT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Georgia"/>
                <a:ea typeface="Microsoft JhengHei"/>
              </a:rPr>
              <a:t>30 分鐘研究簡報 · 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5349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B8C0D4"/>
                </a:solidFill>
                <a:latin typeface="Microsoft JhengHei"/>
                <a:ea typeface="Microsoft JhengHei"/>
              </a:rPr>
              <a:t>DOCUMENT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5623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Georgia"/>
                <a:ea typeface="Microsoft JhengHei"/>
              </a:rPr>
              <a:t>Preprint v0.2.0 · 2026-04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Microsoft JhengHei"/>
                <a:ea typeface="Microsoft JhengHei"/>
              </a:rPr>
              <a:t>NARRATIVE REGIMES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64922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CCCCCC"/>
                </a:solidFill>
                <a:latin typeface="Microsoft JhengHei"/>
                <a:ea typeface="Microsoft JhengHei"/>
              </a:rPr>
              <a:t>機密 · 僅供受邀機構投資人參考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